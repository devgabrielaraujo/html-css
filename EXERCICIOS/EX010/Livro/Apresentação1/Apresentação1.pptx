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2" r:id="rId1"/>
  </p:sldMasterIdLst>
  <p:sldIdLst>
    <p:sldId id="256" r:id="rId2"/>
    <p:sldId id="257" r:id="rId3"/>
    <p:sldId id="258" r:id="rId4"/>
    <p:sldId id="260" r:id="rId5"/>
    <p:sldId id="259"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pt-BR"/>
              <a:t>Clique para editar o título Mestre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F8A1BFCD-6EEC-4A83-AD07-222A9FC764C6}" type="datetimeFigureOut">
              <a:rPr lang="pt-BR" smtClean="0"/>
              <a:t>26/09/2022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EB584AFF-01D9-44D7-987D-3B302AEBB84B}" type="slidenum">
              <a:rPr lang="pt-BR" smtClean="0"/>
              <a:t>‹nº›</a:t>
            </a:fld>
            <a:endParaRPr lang="pt-BR"/>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5928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nchor="ct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F8A1BFCD-6EEC-4A83-AD07-222A9FC764C6}" type="datetimeFigureOut">
              <a:rPr lang="pt-BR" smtClean="0"/>
              <a:t>26/09/2022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EB584AFF-01D9-44D7-987D-3B302AEBB84B}" type="slidenum">
              <a:rPr lang="pt-BR" smtClean="0"/>
              <a:t>‹nº›</a:t>
            </a:fld>
            <a:endParaRPr lang="pt-BR"/>
          </a:p>
        </p:txBody>
      </p:sp>
    </p:spTree>
    <p:extLst>
      <p:ext uri="{BB962C8B-B14F-4D97-AF65-F5344CB8AC3E}">
        <p14:creationId xmlns:p14="http://schemas.microsoft.com/office/powerpoint/2010/main" val="2290547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pt-BR"/>
              <a:t>Clique para editar o título Mestre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F8A1BFCD-6EEC-4A83-AD07-222A9FC764C6}" type="datetimeFigureOut">
              <a:rPr lang="pt-BR" smtClean="0"/>
              <a:t>26/09/2022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EB584AFF-01D9-44D7-987D-3B302AEBB84B}" type="slidenum">
              <a:rPr lang="pt-BR" smtClean="0"/>
              <a:t>‹nº›</a:t>
            </a:fld>
            <a:endParaRPr lang="pt-BR"/>
          </a:p>
        </p:txBody>
      </p:sp>
    </p:spTree>
    <p:extLst>
      <p:ext uri="{BB962C8B-B14F-4D97-AF65-F5344CB8AC3E}">
        <p14:creationId xmlns:p14="http://schemas.microsoft.com/office/powerpoint/2010/main" val="1050046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F8A1BFCD-6EEC-4A83-AD07-222A9FC764C6}" type="datetimeFigureOut">
              <a:rPr lang="pt-BR" smtClean="0"/>
              <a:t>26/09/2022</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EB584AFF-01D9-44D7-987D-3B302AEBB84B}" type="slidenum">
              <a:rPr lang="pt-BR" smtClean="0"/>
              <a:t>‹nº›</a:t>
            </a:fld>
            <a:endParaRPr lang="pt-BR"/>
          </a:p>
        </p:txBody>
      </p:sp>
    </p:spTree>
    <p:extLst>
      <p:ext uri="{BB962C8B-B14F-4D97-AF65-F5344CB8AC3E}">
        <p14:creationId xmlns:p14="http://schemas.microsoft.com/office/powerpoint/2010/main" val="594168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F8A1BFCD-6EEC-4A83-AD07-222A9FC764C6}" type="datetimeFigureOut">
              <a:rPr lang="pt-BR" smtClean="0"/>
              <a:t>26/09/2022</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EB584AFF-01D9-44D7-987D-3B302AEBB84B}" type="slidenum">
              <a:rPr lang="pt-BR" smtClean="0"/>
              <a:t>‹nº›</a:t>
            </a:fld>
            <a:endParaRPr lang="pt-BR"/>
          </a:p>
        </p:txBody>
      </p:sp>
    </p:spTree>
    <p:extLst>
      <p:ext uri="{BB962C8B-B14F-4D97-AF65-F5344CB8AC3E}">
        <p14:creationId xmlns:p14="http://schemas.microsoft.com/office/powerpoint/2010/main" val="3568481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F8A1BFCD-6EEC-4A83-AD07-222A9FC764C6}" type="datetimeFigureOut">
              <a:rPr lang="pt-BR" smtClean="0"/>
              <a:t>26/09/2022</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EB584AFF-01D9-44D7-987D-3B302AEBB84B}" type="slidenum">
              <a:rPr lang="pt-BR" smtClean="0"/>
              <a:t>‹nº›</a:t>
            </a:fld>
            <a:endParaRPr lang="pt-BR"/>
          </a:p>
        </p:txBody>
      </p:sp>
    </p:spTree>
    <p:extLst>
      <p:ext uri="{BB962C8B-B14F-4D97-AF65-F5344CB8AC3E}">
        <p14:creationId xmlns:p14="http://schemas.microsoft.com/office/powerpoint/2010/main" val="3119609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A1BFCD-6EEC-4A83-AD07-222A9FC764C6}" type="datetimeFigureOut">
              <a:rPr lang="pt-BR" smtClean="0"/>
              <a:t>26/09/2022</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EB584AFF-01D9-44D7-987D-3B302AEBB84B}" type="slidenum">
              <a:rPr lang="pt-BR" smtClean="0"/>
              <a:t>‹nº›</a:t>
            </a:fld>
            <a:endParaRPr lang="pt-BR"/>
          </a:p>
        </p:txBody>
      </p:sp>
    </p:spTree>
    <p:extLst>
      <p:ext uri="{BB962C8B-B14F-4D97-AF65-F5344CB8AC3E}">
        <p14:creationId xmlns:p14="http://schemas.microsoft.com/office/powerpoint/2010/main" val="2986341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pt-BR"/>
              <a:t>Clique para editar o título Mestre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F8A1BFCD-6EEC-4A83-AD07-222A9FC764C6}" type="datetimeFigureOut">
              <a:rPr lang="pt-BR" smtClean="0"/>
              <a:t>26/09/2022</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EB584AFF-01D9-44D7-987D-3B302AEBB84B}" type="slidenum">
              <a:rPr lang="pt-BR" smtClean="0"/>
              <a:t>‹nº›</a:t>
            </a:fld>
            <a:endParaRPr lang="pt-BR"/>
          </a:p>
        </p:txBody>
      </p:sp>
    </p:spTree>
    <p:extLst>
      <p:ext uri="{BB962C8B-B14F-4D97-AF65-F5344CB8AC3E}">
        <p14:creationId xmlns:p14="http://schemas.microsoft.com/office/powerpoint/2010/main" val="157768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pt-BR"/>
              <a:t>Clique para editar o título Mestre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F8A1BFCD-6EEC-4A83-AD07-222A9FC764C6}" type="datetimeFigureOut">
              <a:rPr lang="pt-BR" smtClean="0"/>
              <a:t>26/09/2022</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EB584AFF-01D9-44D7-987D-3B302AEBB84B}" type="slidenum">
              <a:rPr lang="pt-BR" smtClean="0"/>
              <a:t>‹nº›</a:t>
            </a:fld>
            <a:endParaRPr lang="pt-BR"/>
          </a:p>
        </p:txBody>
      </p:sp>
    </p:spTree>
    <p:extLst>
      <p:ext uri="{BB962C8B-B14F-4D97-AF65-F5344CB8AC3E}">
        <p14:creationId xmlns:p14="http://schemas.microsoft.com/office/powerpoint/2010/main" val="1243573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os estilos de texto Mestres</a:t>
            </a:r>
          </a:p>
        </p:txBody>
      </p:sp>
      <p:sp>
        <p:nvSpPr>
          <p:cNvPr id="3" name="Date Placeholder 2"/>
          <p:cNvSpPr>
            <a:spLocks noGrp="1"/>
          </p:cNvSpPr>
          <p:nvPr>
            <p:ph type="dt" sz="half" idx="10"/>
          </p:nvPr>
        </p:nvSpPr>
        <p:spPr/>
        <p:txBody>
          <a:bodyPr/>
          <a:lstStyle/>
          <a:p>
            <a:fld id="{F8A1BFCD-6EEC-4A83-AD07-222A9FC764C6}" type="datetimeFigureOut">
              <a:rPr lang="pt-BR" smtClean="0"/>
              <a:t>26/09/2022</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EB584AFF-01D9-44D7-987D-3B302AEBB84B}" type="slidenum">
              <a:rPr lang="pt-BR" smtClean="0"/>
              <a:t>‹nº›</a:t>
            </a:fld>
            <a:endParaRPr lang="pt-BR"/>
          </a:p>
        </p:txBody>
      </p:sp>
    </p:spTree>
    <p:extLst>
      <p:ext uri="{BB962C8B-B14F-4D97-AF65-F5344CB8AC3E}">
        <p14:creationId xmlns:p14="http://schemas.microsoft.com/office/powerpoint/2010/main" val="3994116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pt-BR"/>
              <a:t>Clique para editar o título Mestre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F8A1BFCD-6EEC-4A83-AD07-222A9FC764C6}" type="datetimeFigureOut">
              <a:rPr lang="pt-BR" smtClean="0"/>
              <a:t>26/09/2022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EB584AFF-01D9-44D7-987D-3B302AEBB84B}" type="slidenum">
              <a:rPr lang="pt-BR" smtClean="0"/>
              <a:t>‹nº›</a:t>
            </a:fld>
            <a:endParaRPr lang="pt-BR"/>
          </a:p>
        </p:txBody>
      </p:sp>
    </p:spTree>
    <p:extLst>
      <p:ext uri="{BB962C8B-B14F-4D97-AF65-F5344CB8AC3E}">
        <p14:creationId xmlns:p14="http://schemas.microsoft.com/office/powerpoint/2010/main" val="98757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pt-BR"/>
              <a:t>Clique para editar o título Mestre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os estilos de texto Mestres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F8A1BFCD-6EEC-4A83-AD07-222A9FC764C6}" type="datetimeFigureOut">
              <a:rPr lang="pt-BR" smtClean="0"/>
              <a:t>26/09/2022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EB584AFF-01D9-44D7-987D-3B302AEBB84B}" type="slidenum">
              <a:rPr lang="pt-BR" smtClean="0"/>
              <a:t>‹nº›</a:t>
            </a:fld>
            <a:endParaRPr lang="pt-BR"/>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9611999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pt-BR"/>
              <a:t>Clique para editar o título Mestre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F8A1BFCD-6EEC-4A83-AD07-222A9FC764C6}" type="datetimeFigureOut">
              <a:rPr lang="pt-BR" smtClean="0"/>
              <a:t>26/09/2022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EB584AFF-01D9-44D7-987D-3B302AEBB84B}" type="slidenum">
              <a:rPr lang="pt-BR" smtClean="0"/>
              <a:t>‹nº›</a:t>
            </a:fld>
            <a:endParaRPr lang="pt-BR"/>
          </a:p>
        </p:txBody>
      </p:sp>
    </p:spTree>
    <p:extLst>
      <p:ext uri="{BB962C8B-B14F-4D97-AF65-F5344CB8AC3E}">
        <p14:creationId xmlns:p14="http://schemas.microsoft.com/office/powerpoint/2010/main" val="21481872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pt-BR"/>
              <a:t>Clique para editar o título Mestre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pt-BR"/>
              <a:t>Clique para editar os estilos de texto Mestres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F8A1BFCD-6EEC-4A83-AD07-222A9FC764C6}" type="datetimeFigureOut">
              <a:rPr lang="pt-BR" smtClean="0"/>
              <a:t>26/09/2022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EB584AFF-01D9-44D7-987D-3B302AEBB84B}" type="slidenum">
              <a:rPr lang="pt-BR" smtClean="0"/>
              <a:t>‹nº›</a:t>
            </a:fld>
            <a:endParaRPr lang="pt-BR"/>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4378913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pt-BR"/>
              <a:t>Clique para editar o título Mestre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pt-BR"/>
              <a:t>Clique para editar os estilos de texto Mestres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F8A1BFCD-6EEC-4A83-AD07-222A9FC764C6}" type="datetimeFigureOut">
              <a:rPr lang="pt-BR" smtClean="0"/>
              <a:t>26/09/2022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EB584AFF-01D9-44D7-987D-3B302AEBB84B}" type="slidenum">
              <a:rPr lang="pt-BR" smtClean="0"/>
              <a:t>‹nº›</a:t>
            </a:fld>
            <a:endParaRPr lang="pt-BR"/>
          </a:p>
        </p:txBody>
      </p:sp>
    </p:spTree>
    <p:extLst>
      <p:ext uri="{BB962C8B-B14F-4D97-AF65-F5344CB8AC3E}">
        <p14:creationId xmlns:p14="http://schemas.microsoft.com/office/powerpoint/2010/main" val="10510873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F8A1BFCD-6EEC-4A83-AD07-222A9FC764C6}" type="datetimeFigureOut">
              <a:rPr lang="pt-BR" smtClean="0"/>
              <a:t>26/09/2022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EB584AFF-01D9-44D7-987D-3B302AEBB84B}" type="slidenum">
              <a:rPr lang="pt-BR" smtClean="0"/>
              <a:t>‹nº›</a:t>
            </a:fld>
            <a:endParaRPr lang="pt-BR"/>
          </a:p>
        </p:txBody>
      </p:sp>
    </p:spTree>
    <p:extLst>
      <p:ext uri="{BB962C8B-B14F-4D97-AF65-F5344CB8AC3E}">
        <p14:creationId xmlns:p14="http://schemas.microsoft.com/office/powerpoint/2010/main" val="2701571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F8A1BFCD-6EEC-4A83-AD07-222A9FC764C6}" type="datetimeFigureOut">
              <a:rPr lang="pt-BR" smtClean="0"/>
              <a:t>26/09/2022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EB584AFF-01D9-44D7-987D-3B302AEBB84B}" type="slidenum">
              <a:rPr lang="pt-BR" smtClean="0"/>
              <a:t>‹nº›</a:t>
            </a:fld>
            <a:endParaRPr lang="pt-BR"/>
          </a:p>
        </p:txBody>
      </p:sp>
    </p:spTree>
    <p:extLst>
      <p:ext uri="{BB962C8B-B14F-4D97-AF65-F5344CB8AC3E}">
        <p14:creationId xmlns:p14="http://schemas.microsoft.com/office/powerpoint/2010/main" val="3807463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F8A1BFCD-6EEC-4A83-AD07-222A9FC764C6}" type="datetimeFigureOut">
              <a:rPr lang="pt-BR" smtClean="0"/>
              <a:t>26/09/2022</a:t>
            </a:fld>
            <a:endParaRPr lang="pt-BR"/>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pt-BR"/>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EB584AFF-01D9-44D7-987D-3B302AEBB84B}" type="slidenum">
              <a:rPr lang="pt-BR" smtClean="0"/>
              <a:t>‹nº›</a:t>
            </a:fld>
            <a:endParaRPr lang="pt-BR"/>
          </a:p>
        </p:txBody>
      </p:sp>
    </p:spTree>
    <p:extLst>
      <p:ext uri="{BB962C8B-B14F-4D97-AF65-F5344CB8AC3E}">
        <p14:creationId xmlns:p14="http://schemas.microsoft.com/office/powerpoint/2010/main" val="1618792721"/>
      </p:ext>
    </p:extLst>
  </p:cSld>
  <p:clrMap bg1="dk1" tx1="lt1" bg2="dk2" tx2="lt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 id="2147483904" r:id="rId12"/>
    <p:sldLayoutId id="2147483905" r:id="rId13"/>
    <p:sldLayoutId id="2147483906" r:id="rId14"/>
    <p:sldLayoutId id="2147483907" r:id="rId15"/>
    <p:sldLayoutId id="2147483908" r:id="rId16"/>
    <p:sldLayoutId id="214748390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6872CA-FF0D-305F-3BD3-69EAC53E3531}"/>
              </a:ext>
            </a:extLst>
          </p:cNvPr>
          <p:cNvSpPr>
            <a:spLocks noGrp="1"/>
          </p:cNvSpPr>
          <p:nvPr>
            <p:ph type="ctrTitle"/>
          </p:nvPr>
        </p:nvSpPr>
        <p:spPr>
          <a:xfrm>
            <a:off x="661182" y="942535"/>
            <a:ext cx="8024029" cy="5430130"/>
          </a:xfrm>
        </p:spPr>
        <p:txBody>
          <a:bodyPr>
            <a:normAutofit fontScale="90000"/>
          </a:bodyPr>
          <a:lstStyle/>
          <a:p>
            <a:r>
              <a:rPr lang="pt-BR" dirty="0"/>
              <a:t>			</a:t>
            </a:r>
            <a:br>
              <a:rPr lang="pt-BR" dirty="0"/>
            </a:br>
            <a:r>
              <a:rPr lang="pt-BR" dirty="0"/>
              <a:t>       			    </a:t>
            </a:r>
            <a:br>
              <a:rPr lang="pt-BR" dirty="0"/>
            </a:br>
            <a:r>
              <a:rPr lang="pt-BR" dirty="0"/>
              <a:t>							</a:t>
            </a:r>
            <a:br>
              <a:rPr lang="pt-BR" dirty="0"/>
            </a:br>
            <a:br>
              <a:rPr lang="pt-BR" dirty="0"/>
            </a:br>
            <a:r>
              <a:rPr lang="pt-BR" dirty="0"/>
              <a:t>								</a:t>
            </a:r>
            <a:br>
              <a:rPr lang="pt-BR" dirty="0"/>
            </a:br>
            <a:r>
              <a:rPr lang="pt-BR" dirty="0"/>
              <a:t>							</a:t>
            </a:r>
            <a:r>
              <a:rPr lang="pt-BR" b="1" i="1" u="sng" dirty="0">
                <a:solidFill>
                  <a:schemeClr val="tx1">
                    <a:lumMod val="95000"/>
                  </a:schemeClr>
                </a:solidFill>
              </a:rPr>
              <a:t>Moral</a:t>
            </a:r>
            <a:br>
              <a:rPr lang="pt-BR" b="1" i="1" u="sng" dirty="0">
                <a:solidFill>
                  <a:schemeClr val="tx1">
                    <a:lumMod val="95000"/>
                  </a:schemeClr>
                </a:solidFill>
              </a:rPr>
            </a:br>
            <a:br>
              <a:rPr lang="pt-BR" dirty="0"/>
            </a:br>
            <a:r>
              <a:rPr lang="pt-BR" dirty="0"/>
              <a:t>			</a:t>
            </a:r>
            <a:r>
              <a:rPr lang="pt-BR" cap="none"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Trabalho de sociologia</a:t>
            </a:r>
            <a:br>
              <a:rPr lang="pt-BR" cap="none"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br>
            <a:br>
              <a:rPr lang="pt-BR" cap="none"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br>
            <a:r>
              <a:rPr lang="pt-BR" sz="2800" cap="none"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escola: Estadual Edson Alves Pereira</a:t>
            </a:r>
            <a:br>
              <a:rPr lang="pt-BR" cap="none"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br>
            <a:r>
              <a:rPr lang="pt-BR" sz="3600" i="1" u="sng" cap="none"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Berlin Sans FB" panose="020E0602020502020306" pitchFamily="34" charset="0"/>
              </a:rPr>
              <a:t>professora: Meire</a:t>
            </a:r>
            <a:br>
              <a:rPr lang="pt-BR" sz="3600" i="1" u="sng" cap="none"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Berlin Sans FB" panose="020E0602020502020306" pitchFamily="34" charset="0"/>
              </a:rPr>
            </a:br>
            <a:r>
              <a:rPr lang="pt-BR" sz="3600" i="1" u="sng" cap="none"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Berlin Sans FB" panose="020E0602020502020306" pitchFamily="34" charset="0"/>
              </a:rPr>
              <a:t>aluno: Gabriel  e </a:t>
            </a:r>
            <a:r>
              <a:rPr lang="pt-BR" sz="3600" i="1" u="sng" cap="none">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Berlin Sans FB" panose="020E0602020502020306" pitchFamily="34" charset="0"/>
              </a:rPr>
              <a:t>kaique</a:t>
            </a:r>
            <a:br>
              <a:rPr lang="pt-BR" cap="none"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br>
            <a:br>
              <a:rPr lang="pt-BR" cap="none"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br>
            <a:endParaRPr lang="pt-BR" dirty="0"/>
          </a:p>
        </p:txBody>
      </p:sp>
      <p:sp>
        <p:nvSpPr>
          <p:cNvPr id="4" name="Seta: para a Direita 3">
            <a:extLst>
              <a:ext uri="{FF2B5EF4-FFF2-40B4-BE49-F238E27FC236}">
                <a16:creationId xmlns:a16="http://schemas.microsoft.com/office/drawing/2014/main" id="{0E80AAA8-9F62-874A-2CCE-85CC958156F6}"/>
              </a:ext>
            </a:extLst>
          </p:cNvPr>
          <p:cNvSpPr/>
          <p:nvPr/>
        </p:nvSpPr>
        <p:spPr>
          <a:xfrm>
            <a:off x="661182" y="1291765"/>
            <a:ext cx="2768672" cy="484632"/>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023479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bg>
      <p:bgPr>
        <a:gradFill>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87B99509-6857-84C8-AB59-9DDB0943A85B}"/>
              </a:ext>
            </a:extLst>
          </p:cNvPr>
          <p:cNvSpPr>
            <a:spLocks noGrp="1"/>
          </p:cNvSpPr>
          <p:nvPr>
            <p:ph idx="1"/>
          </p:nvPr>
        </p:nvSpPr>
        <p:spPr>
          <a:xfrm>
            <a:off x="682388" y="-1"/>
            <a:ext cx="8536224" cy="7124131"/>
          </a:xfrm>
        </p:spPr>
        <p:txBody>
          <a:bodyPr>
            <a:normAutofit fontScale="62500" lnSpcReduction="20000"/>
          </a:bodyPr>
          <a:lstStyle/>
          <a:p>
            <a:pPr>
              <a:lnSpc>
                <a:spcPct val="107000"/>
              </a:lnSpc>
              <a:spcAft>
                <a:spcPts val="800"/>
              </a:spcAft>
            </a:pPr>
            <a:r>
              <a:rPr lang="pt-BR" sz="5100" dirty="0">
                <a:solidFill>
                  <a:schemeClr val="tx1">
                    <a:lumMod val="95000"/>
                  </a:schemeClr>
                </a:solidFill>
                <a:effectLst/>
                <a:latin typeface="Calibri" panose="020F0502020204030204" pitchFamily="34" charset="0"/>
                <a:ea typeface="Calibri" panose="020F0502020204030204" pitchFamily="34" charset="0"/>
                <a:cs typeface="Times New Roman" panose="02020603050405020304" pitchFamily="18" charset="0"/>
              </a:rPr>
              <a:t>MORAL</a:t>
            </a:r>
          </a:p>
          <a:p>
            <a:pPr>
              <a:lnSpc>
                <a:spcPct val="107000"/>
              </a:lnSpc>
              <a:spcAft>
                <a:spcPts val="800"/>
              </a:spcAft>
            </a:pPr>
            <a:r>
              <a:rPr lang="pt-BR" sz="5100" dirty="0">
                <a:solidFill>
                  <a:schemeClr val="tx1">
                    <a:lumMod val="95000"/>
                  </a:schemeClr>
                </a:solidFill>
                <a:effectLst/>
                <a:latin typeface="Calibri" panose="020F0502020204030204" pitchFamily="34" charset="0"/>
                <a:ea typeface="Calibri" panose="020F0502020204030204" pitchFamily="34" charset="0"/>
                <a:cs typeface="Times New Roman" panose="02020603050405020304" pitchFamily="18" charset="0"/>
              </a:rPr>
              <a:t>"Numa breve definição de moral, podemos dizer que se trata do conjunto de valores, de normas e de noções do que é certo ou errado, proibido e permitido, dentro de uma determinada sociedade, de uma cultura. Como sabemos, as práticas positivas de um código moral são importantes para que possamos viver em sociedade, fato que fortalece cada vez mais a coesão dos laços que garantem a solidariedade social. Do contrário, teríamos uma situação de caos, de luta de todos contra todos para o atendimento de nossas vontades.</a:t>
            </a:r>
          </a:p>
          <a:p>
            <a:pPr>
              <a:lnSpc>
                <a:spcPct val="107000"/>
              </a:lnSpc>
              <a:spcAft>
                <a:spcPts val="800"/>
              </a:spcAft>
            </a:pPr>
            <a:r>
              <a:rPr lang="pt-BR" sz="5100" dirty="0">
                <a:effectLst/>
                <a:latin typeface="Calibri" panose="020F0502020204030204" pitchFamily="34" charset="0"/>
                <a:ea typeface="Calibri" panose="020F0502020204030204" pitchFamily="34" charset="0"/>
                <a:cs typeface="Times New Roman" panose="02020603050405020304" pitchFamily="18" charset="0"/>
              </a:rPr>
              <a:t> </a:t>
            </a:r>
          </a:p>
          <a:p>
            <a:endParaRPr lang="pt-BR" dirty="0"/>
          </a:p>
        </p:txBody>
      </p:sp>
    </p:spTree>
    <p:extLst>
      <p:ext uri="{BB962C8B-B14F-4D97-AF65-F5344CB8AC3E}">
        <p14:creationId xmlns:p14="http://schemas.microsoft.com/office/powerpoint/2010/main" val="3861121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A9B966F4-5DB4-7783-61A0-797D6A32288F}"/>
              </a:ext>
            </a:extLst>
          </p:cNvPr>
          <p:cNvSpPr>
            <a:spLocks noGrp="1"/>
          </p:cNvSpPr>
          <p:nvPr>
            <p:ph idx="1"/>
          </p:nvPr>
        </p:nvSpPr>
        <p:spPr>
          <a:xfrm>
            <a:off x="668740" y="-208128"/>
            <a:ext cx="9068487" cy="7629098"/>
          </a:xfrm>
        </p:spPr>
        <p:txBody>
          <a:bodyPr>
            <a:normAutofit/>
          </a:bodyPr>
          <a:lstStyle/>
          <a:p>
            <a:r>
              <a:rPr lang="pt-BR" sz="3200" dirty="0">
                <a:solidFill>
                  <a:schemeClr val="tx1">
                    <a:lumMod val="95000"/>
                  </a:schemeClr>
                </a:solidFill>
                <a:effectLst/>
                <a:latin typeface="Calibri" panose="020F0502020204030204" pitchFamily="34" charset="0"/>
                <a:ea typeface="Calibri" panose="020F0502020204030204" pitchFamily="34" charset="0"/>
                <a:cs typeface="Times New Roman" panose="02020603050405020304" pitchFamily="18" charset="0"/>
              </a:rPr>
              <a:t>Assim, moral tem a ver com os valores que regem a ação humana enquanto inserida na convivência social, tendo assim um caráter normativo. A moral diz respeito a uma consciência coletiva e a valores que são construídos por convenções, as quais são formuladas por uma consciência social, o que equivale dizer que são regras sancionadas pela sociedade, pelo grupo. Segundo Émile Durkheim, um dos pensadores responsáveis pela origem da Sociologia no final do século XIX, a consciência social é fruto da coletividade, da soma e inter-relação das várias consciências individuais."</a:t>
            </a:r>
          </a:p>
          <a:p>
            <a:endParaRPr lang="pt-BR" dirty="0"/>
          </a:p>
        </p:txBody>
      </p:sp>
    </p:spTree>
    <p:extLst>
      <p:ext uri="{BB962C8B-B14F-4D97-AF65-F5344CB8AC3E}">
        <p14:creationId xmlns:p14="http://schemas.microsoft.com/office/powerpoint/2010/main" val="3571086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763BFCBE-7B43-12C1-6E9A-83087FF20B4E}"/>
              </a:ext>
            </a:extLst>
          </p:cNvPr>
          <p:cNvSpPr>
            <a:spLocks noGrp="1"/>
          </p:cNvSpPr>
          <p:nvPr>
            <p:ph idx="1"/>
          </p:nvPr>
        </p:nvSpPr>
        <p:spPr>
          <a:xfrm>
            <a:off x="0" y="559558"/>
            <a:ext cx="8748215" cy="6851176"/>
          </a:xfrm>
        </p:spPr>
        <p:txBody>
          <a:bodyPr>
            <a:normAutofit/>
          </a:bodyPr>
          <a:lstStyle/>
          <a:p>
            <a:r>
              <a:rPr lang="pt-BR" sz="2800" dirty="0">
                <a:effectLst/>
                <a:latin typeface="Calibri" panose="020F0502020204030204" pitchFamily="34" charset="0"/>
                <a:ea typeface="Calibri" panose="020F0502020204030204" pitchFamily="34" charset="0"/>
                <a:cs typeface="Times New Roman" panose="02020603050405020304" pitchFamily="18" charset="0"/>
              </a:rPr>
              <a:t>"Dessa forma, as mais diferentes expressões culturais possuem diferentes sistemas morais para organização da vida em sociedade. Prova disso está nas diferenças existentes entre os aspectos da cultura ocidental e oriental, em linhas gerais. Basta avaliarmos o papel social assumido pelas mulheres quando comparamos brasileiras e afegãs, assim como aquele assumido pelos anciãos nas mais diferentes sociedades, o gosto ou desinteresse pela política. Devemos sempre ter em mente que a moral, por ser fruto da consciência coletiva de uma determinada sociedade e cultura, pode variar através da dinâmica dos tempos.</a:t>
            </a:r>
          </a:p>
          <a:p>
            <a:endParaRPr lang="pt-BR" sz="3200" dirty="0"/>
          </a:p>
        </p:txBody>
      </p:sp>
      <p:pic>
        <p:nvPicPr>
          <p:cNvPr id="7" name="Imagem 6">
            <a:extLst>
              <a:ext uri="{FF2B5EF4-FFF2-40B4-BE49-F238E27FC236}">
                <a16:creationId xmlns:a16="http://schemas.microsoft.com/office/drawing/2014/main" id="{4265BB6B-ED15-20EB-92C6-95B906ED264C}"/>
              </a:ext>
            </a:extLst>
          </p:cNvPr>
          <p:cNvPicPr>
            <a:picLocks noChangeAspect="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748215" y="559557"/>
            <a:ext cx="3443785" cy="25794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459804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1FF50326-5DAB-463D-6CFC-7F1A84BA31EC}"/>
              </a:ext>
            </a:extLst>
          </p:cNvPr>
          <p:cNvSpPr>
            <a:spLocks noGrp="1"/>
          </p:cNvSpPr>
          <p:nvPr>
            <p:ph idx="1"/>
          </p:nvPr>
        </p:nvSpPr>
        <p:spPr>
          <a:xfrm>
            <a:off x="684212" y="685800"/>
            <a:ext cx="8534400" cy="6411036"/>
          </a:xfrm>
        </p:spPr>
        <p:txBody>
          <a:bodyPr/>
          <a:lstStyle/>
          <a:p>
            <a:r>
              <a:rPr lang="pt-BR" sz="2800" dirty="0">
                <a:effectLst/>
                <a:latin typeface="Calibri" panose="020F0502020204030204" pitchFamily="34" charset="0"/>
                <a:ea typeface="Calibri" panose="020F0502020204030204" pitchFamily="34" charset="0"/>
                <a:cs typeface="Times New Roman" panose="02020603050405020304" pitchFamily="18" charset="0"/>
              </a:rPr>
              <a:t>Ao partirmos então da ideia de que a moral é construída culturalmente, algumas “visões de mundo” ganham status de verdade entre os grupos sociais e, por isso, muitas vezes são “naturalizadas”. Essa naturalização de uma visão cultural é o que dificulta conseguirmos distinguir entre juízo de fato (análise imparcial) e de valor (fruto da subjetividade), o que pode ser uma armadilha que nos leva ao desenvolvimento de preconceitos em relação ao que nos é estranho e diferente.</a:t>
            </a:r>
          </a:p>
          <a:p>
            <a:endParaRPr lang="pt-BR" dirty="0"/>
          </a:p>
        </p:txBody>
      </p:sp>
    </p:spTree>
    <p:extLst>
      <p:ext uri="{BB962C8B-B14F-4D97-AF65-F5344CB8AC3E}">
        <p14:creationId xmlns:p14="http://schemas.microsoft.com/office/powerpoint/2010/main" val="1754792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5CC0589B-B748-15DD-936D-4687133A7DE6}"/>
              </a:ext>
            </a:extLst>
          </p:cNvPr>
          <p:cNvSpPr>
            <a:spLocks noGrp="1"/>
          </p:cNvSpPr>
          <p:nvPr>
            <p:ph idx="1"/>
          </p:nvPr>
        </p:nvSpPr>
        <p:spPr>
          <a:xfrm>
            <a:off x="684212" y="0"/>
            <a:ext cx="8534400" cy="7315200"/>
          </a:xfrm>
        </p:spPr>
        <p:txBody>
          <a:bodyPr>
            <a:normAutofit/>
          </a:bodyPr>
          <a:lstStyle/>
          <a:p>
            <a:r>
              <a:rPr lang="pt-BR" sz="2400" dirty="0">
                <a:effectLst/>
                <a:latin typeface="Calibri" panose="020F0502020204030204" pitchFamily="34" charset="0"/>
                <a:ea typeface="Calibri" panose="020F0502020204030204" pitchFamily="34" charset="0"/>
                <a:cs typeface="Times New Roman" panose="02020603050405020304" pitchFamily="18" charset="0"/>
              </a:rPr>
              <a:t>Considerar o outro ou o próximo é um aspecto fundamental à moralidade. Dessa forma, uma preocupação constante no debate sobre ética e moral se dá no sentido de evitar a violência em todas as suas possíveis expressões (física ou psíquica), bem como o caos social. Os valores éticos (ou morais) se oferecem, portanto, como expressão e garantia de nossa condição de seres humanos ou de sujeitos racionais e agentes livres, proibindo moralmente a violência e favorecendo a coesão social, isto é, a “ligação” entre as pessoas em sociedade. Porém, considerando-se que o código moral é constituído pela cultura, a violência não é vista da mesma forma por todas as culturas. Numa cultura, ao definir o que é mau ou violento, automaticamente </a:t>
            </a:r>
            <a:r>
              <a:rPr lang="pt-BR" sz="2400" dirty="0" err="1">
                <a:effectLst/>
                <a:latin typeface="Calibri" panose="020F0502020204030204" pitchFamily="34" charset="0"/>
                <a:ea typeface="Calibri" panose="020F0502020204030204" pitchFamily="34" charset="0"/>
                <a:cs typeface="Times New Roman" panose="02020603050405020304" pitchFamily="18" charset="0"/>
              </a:rPr>
              <a:t>defini-se</a:t>
            </a:r>
            <a:r>
              <a:rPr lang="pt-BR" sz="2400" dirty="0">
                <a:effectLst/>
                <a:latin typeface="Calibri" panose="020F0502020204030204" pitchFamily="34" charset="0"/>
                <a:ea typeface="Calibri" panose="020F0502020204030204" pitchFamily="34" charset="0"/>
                <a:cs typeface="Times New Roman" panose="02020603050405020304" pitchFamily="18" charset="0"/>
              </a:rPr>
              <a:t> o que é bom. Logo, a noção de violação, profanação e discriminação variam de uma cultura </a:t>
            </a:r>
            <a:r>
              <a:rPr lang="pt-BR" sz="2400" dirty="0" err="1">
                <a:effectLst/>
                <a:latin typeface="Calibri" panose="020F0502020204030204" pitchFamily="34" charset="0"/>
                <a:ea typeface="Calibri" panose="020F0502020204030204" pitchFamily="34" charset="0"/>
                <a:cs typeface="Times New Roman" panose="02020603050405020304" pitchFamily="18" charset="0"/>
              </a:rPr>
              <a:t>para""outra</a:t>
            </a:r>
            <a:r>
              <a:rPr lang="pt-BR" sz="2400" dirty="0">
                <a:effectLst/>
                <a:latin typeface="Calibri" panose="020F0502020204030204" pitchFamily="34" charset="0"/>
                <a:ea typeface="Calibri" panose="020F0502020204030204" pitchFamily="34" charset="0"/>
                <a:cs typeface="Times New Roman" panose="02020603050405020304" pitchFamily="18" charset="0"/>
              </a:rPr>
              <a:t>. Contudo, em todas se tem a noção do que é a violência."</a:t>
            </a:r>
          </a:p>
          <a:p>
            <a:endParaRPr lang="pt-BR" dirty="0"/>
          </a:p>
        </p:txBody>
      </p:sp>
    </p:spTree>
    <p:extLst>
      <p:ext uri="{BB962C8B-B14F-4D97-AF65-F5344CB8AC3E}">
        <p14:creationId xmlns:p14="http://schemas.microsoft.com/office/powerpoint/2010/main" val="2557312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ço Reservado para Conteúdo 4">
            <a:extLst>
              <a:ext uri="{FF2B5EF4-FFF2-40B4-BE49-F238E27FC236}">
                <a16:creationId xmlns:a16="http://schemas.microsoft.com/office/drawing/2014/main" id="{9D29FFB9-E7A1-6C6B-5A96-EC18D5D3AF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35287" y="204788"/>
            <a:ext cx="6127750" cy="61277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02317739"/>
      </p:ext>
    </p:extLst>
  </p:cSld>
  <p:clrMapOvr>
    <a:masterClrMapping/>
  </p:clrMapOvr>
</p:sld>
</file>

<file path=ppt/theme/theme1.xml><?xml version="1.0" encoding="utf-8"?>
<a:theme xmlns:a="http://schemas.openxmlformats.org/drawingml/2006/main" name="Fatia">
  <a:themeElements>
    <a:clrScheme name="Escala de Cinz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Fatia">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atia">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142000"/>
                <a:satMod val="200000"/>
                <a:lumMod val="118000"/>
              </a:schemeClr>
            </a:gs>
            <a:gs pos="100000">
              <a:schemeClr val="phClr">
                <a:shade val="94000"/>
                <a:hueMod val="22000"/>
                <a:satMod val="220000"/>
                <a:lumMod val="62000"/>
              </a:schemeClr>
            </a:gs>
          </a:gsLst>
          <a:lin ang="6120000" scaled="1"/>
        </a:gradFill>
        <a:gradFill rotWithShape="1">
          <a:gsLst>
            <a:gs pos="0">
              <a:schemeClr val="phClr">
                <a:tint val="97000"/>
                <a:hueMod val="142000"/>
                <a:satMod val="200000"/>
                <a:lumMod val="118000"/>
              </a:schemeClr>
            </a:gs>
            <a:gs pos="100000">
              <a:schemeClr val="phClr">
                <a:shade val="92000"/>
                <a:hueMod val="22000"/>
                <a:satMod val="220000"/>
                <a:lumMod val="62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2903AAAE-3EA5-424A-B142-CC51DC1F897D}"/>
    </a:ext>
  </a:extLst>
</a:theme>
</file>

<file path=docProps/app.xml><?xml version="1.0" encoding="utf-8"?>
<Properties xmlns="http://schemas.openxmlformats.org/officeDocument/2006/extended-properties" xmlns:vt="http://schemas.openxmlformats.org/officeDocument/2006/docPropsVTypes">
  <Template/>
  <TotalTime>64</TotalTime>
  <Words>636</Words>
  <Application>Microsoft Office PowerPoint</Application>
  <PresentationFormat>Widescreen</PresentationFormat>
  <Paragraphs>8</Paragraphs>
  <Slides>7</Slides>
  <Notes>0</Notes>
  <HiddenSlides>1</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7</vt:i4>
      </vt:variant>
    </vt:vector>
  </HeadingPairs>
  <TitlesOfParts>
    <vt:vector size="12" baseType="lpstr">
      <vt:lpstr>Berlin Sans FB</vt:lpstr>
      <vt:lpstr>Calibri</vt:lpstr>
      <vt:lpstr>Century Gothic</vt:lpstr>
      <vt:lpstr>Wingdings 3</vt:lpstr>
      <vt:lpstr>Fatia</vt:lpstr>
      <vt:lpstr>                                            Moral     Trabalho de sociologia  escola: Estadual Edson Alves Pereira professora: Meire aluno: Gabriel  e kaique  </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Moral     Trabalho de sociologia  escola: Estadual Edson Alves Pereira professora: Meire aluno: Gabriel   </dc:title>
  <dc:creator>User</dc:creator>
  <cp:lastModifiedBy>User</cp:lastModifiedBy>
  <cp:revision>2</cp:revision>
  <dcterms:created xsi:type="dcterms:W3CDTF">2022-09-26T01:23:23Z</dcterms:created>
  <dcterms:modified xsi:type="dcterms:W3CDTF">2022-09-26T19:44:38Z</dcterms:modified>
</cp:coreProperties>
</file>